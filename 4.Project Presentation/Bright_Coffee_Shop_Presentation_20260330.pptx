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ntic" panose="020B0604020202020204" charset="0"/>
      <p:regular r:id="rId12"/>
    </p:embeddedFont>
    <p:embeddedFont>
      <p:font typeface="Antic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98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728137" y="-1370996"/>
            <a:ext cx="9170160" cy="917016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580767" y="3320579"/>
            <a:ext cx="9170160" cy="917016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12753" y="1298528"/>
            <a:ext cx="6187703" cy="7689944"/>
            <a:chOff x="0" y="0"/>
            <a:chExt cx="5108702" cy="63489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08702" cy="6348857"/>
            </a:xfrm>
            <a:custGeom>
              <a:avLst/>
              <a:gdLst/>
              <a:ahLst/>
              <a:cxnLst/>
              <a:rect l="l" t="t" r="r" b="b"/>
              <a:pathLst>
                <a:path w="5108702" h="6348857">
                  <a:moveTo>
                    <a:pt x="5108702" y="2554351"/>
                  </a:moveTo>
                  <a:lnTo>
                    <a:pt x="5108702" y="3794506"/>
                  </a:lnTo>
                  <a:cubicBezTo>
                    <a:pt x="5108702" y="5205222"/>
                    <a:pt x="3965067" y="6348857"/>
                    <a:pt x="2554351" y="6348857"/>
                  </a:cubicBezTo>
                  <a:cubicBezTo>
                    <a:pt x="1143635" y="6348984"/>
                    <a:pt x="0" y="5205349"/>
                    <a:pt x="0" y="3794506"/>
                  </a:cubicBezTo>
                  <a:lnTo>
                    <a:pt x="0" y="2554351"/>
                  </a:lnTo>
                  <a:cubicBezTo>
                    <a:pt x="0" y="1143635"/>
                    <a:pt x="1143635" y="0"/>
                    <a:pt x="2554351" y="0"/>
                  </a:cubicBezTo>
                  <a:cubicBezTo>
                    <a:pt x="3965067" y="0"/>
                    <a:pt x="5108702" y="1143635"/>
                    <a:pt x="5108702" y="2554351"/>
                  </a:cubicBez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217131" y="3511079"/>
            <a:ext cx="8658116" cy="177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4"/>
              </a:lnSpc>
            </a:pPr>
            <a:r>
              <a:rPr lang="en-US" sz="7400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Sales and Stock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17131" y="5334000"/>
            <a:ext cx="6430930" cy="1777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7411">
                <a:solidFill>
                  <a:srgbClr val="B49567"/>
                </a:solidFill>
                <a:latin typeface="Antic Bold"/>
                <a:ea typeface="Antic Bold"/>
                <a:cs typeface="Antic Bold"/>
                <a:sym typeface="Antic Bold"/>
              </a:rPr>
              <a:t>Bright Coffee Shop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4205262" y="6080085"/>
            <a:ext cx="2315077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3" name="AutoShape 13"/>
          <p:cNvSpPr/>
          <p:nvPr/>
        </p:nvSpPr>
        <p:spPr>
          <a:xfrm>
            <a:off x="7984509" y="1206864"/>
            <a:ext cx="6604806" cy="33926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grpSp>
        <p:nvGrpSpPr>
          <p:cNvPr id="14" name="Group 14"/>
          <p:cNvGrpSpPr/>
          <p:nvPr/>
        </p:nvGrpSpPr>
        <p:grpSpPr>
          <a:xfrm>
            <a:off x="7813250" y="7799164"/>
            <a:ext cx="1459136" cy="14591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956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028700" y="1028700"/>
            <a:ext cx="1792853" cy="1792853"/>
          </a:xfrm>
          <a:custGeom>
            <a:avLst/>
            <a:gdLst/>
            <a:ahLst/>
            <a:cxnLst/>
            <a:rect l="l" t="t" r="r" b="b"/>
            <a:pathLst>
              <a:path w="1792853" h="1792853">
                <a:moveTo>
                  <a:pt x="0" y="0"/>
                </a:moveTo>
                <a:lnTo>
                  <a:pt x="1792853" y="0"/>
                </a:lnTo>
                <a:lnTo>
                  <a:pt x="1792853" y="1792853"/>
                </a:lnTo>
                <a:lnTo>
                  <a:pt x="0" y="17928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TextBox 18"/>
          <p:cNvSpPr txBox="1"/>
          <p:nvPr/>
        </p:nvSpPr>
        <p:spPr>
          <a:xfrm>
            <a:off x="8217131" y="8011842"/>
            <a:ext cx="7841727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By Thandeka Ngetu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Junior Data Analyst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89315" y="971550"/>
            <a:ext cx="266998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28.03.2026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74945" y="4720845"/>
            <a:ext cx="9170160" cy="917016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958068" y="5995879"/>
            <a:ext cx="1792853" cy="1792853"/>
          </a:xfrm>
          <a:custGeom>
            <a:avLst/>
            <a:gdLst/>
            <a:ahLst/>
            <a:cxnLst/>
            <a:rect l="l" t="t" r="r" b="b"/>
            <a:pathLst>
              <a:path w="1792853" h="1792853">
                <a:moveTo>
                  <a:pt x="0" y="0"/>
                </a:moveTo>
                <a:lnTo>
                  <a:pt x="1792852" y="0"/>
                </a:lnTo>
                <a:lnTo>
                  <a:pt x="1792852" y="1792853"/>
                </a:lnTo>
                <a:lnTo>
                  <a:pt x="0" y="17928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6" name="Group 6"/>
          <p:cNvGrpSpPr/>
          <p:nvPr/>
        </p:nvGrpSpPr>
        <p:grpSpPr>
          <a:xfrm>
            <a:off x="-5728137" y="-1370996"/>
            <a:ext cx="9170160" cy="917016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1796728"/>
            <a:ext cx="1772115" cy="1346807"/>
          </a:xfrm>
          <a:custGeom>
            <a:avLst/>
            <a:gdLst/>
            <a:ahLst/>
            <a:cxnLst/>
            <a:rect l="l" t="t" r="r" b="b"/>
            <a:pathLst>
              <a:path w="1772115" h="1346807">
                <a:moveTo>
                  <a:pt x="0" y="0"/>
                </a:moveTo>
                <a:lnTo>
                  <a:pt x="1772115" y="0"/>
                </a:lnTo>
                <a:lnTo>
                  <a:pt x="1772115" y="1346807"/>
                </a:lnTo>
                <a:lnTo>
                  <a:pt x="0" y="1346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AutoShape 10"/>
          <p:cNvSpPr/>
          <p:nvPr/>
        </p:nvSpPr>
        <p:spPr>
          <a:xfrm>
            <a:off x="4765362" y="9258300"/>
            <a:ext cx="7192705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1" name="AutoShape 11"/>
          <p:cNvSpPr/>
          <p:nvPr/>
        </p:nvSpPr>
        <p:spPr>
          <a:xfrm>
            <a:off x="10231489" y="1749103"/>
            <a:ext cx="2884117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2" name="Freeform 12"/>
          <p:cNvSpPr/>
          <p:nvPr/>
        </p:nvSpPr>
        <p:spPr>
          <a:xfrm>
            <a:off x="11503542" y="2821564"/>
            <a:ext cx="5477265" cy="5114799"/>
          </a:xfrm>
          <a:custGeom>
            <a:avLst/>
            <a:gdLst/>
            <a:ahLst/>
            <a:cxnLst/>
            <a:rect l="l" t="t" r="r" b="b"/>
            <a:pathLst>
              <a:path w="5477265" h="5114799">
                <a:moveTo>
                  <a:pt x="0" y="0"/>
                </a:moveTo>
                <a:lnTo>
                  <a:pt x="5477265" y="0"/>
                </a:lnTo>
                <a:lnTo>
                  <a:pt x="5477265" y="5114799"/>
                </a:lnTo>
                <a:lnTo>
                  <a:pt x="0" y="5114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1000"/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Box 13"/>
          <p:cNvSpPr txBox="1"/>
          <p:nvPr/>
        </p:nvSpPr>
        <p:spPr>
          <a:xfrm>
            <a:off x="1028700" y="4676394"/>
            <a:ext cx="9202789" cy="100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Over the past 6 month across our 3 stores, we’ve sold over 214 000 SKUs across 9 catergories, generating close to R700 000 in sales.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82453" y="7439784"/>
            <a:ext cx="9170160" cy="917016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2001" y="-6417170"/>
            <a:ext cx="9170160" cy="917016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3502626" y="1666238"/>
            <a:ext cx="9724435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9" name="Freeform 9"/>
          <p:cNvSpPr/>
          <p:nvPr/>
        </p:nvSpPr>
        <p:spPr>
          <a:xfrm>
            <a:off x="1598504" y="983208"/>
            <a:ext cx="1461312" cy="1461312"/>
          </a:xfrm>
          <a:custGeom>
            <a:avLst/>
            <a:gdLst/>
            <a:ahLst/>
            <a:cxnLst/>
            <a:rect l="l" t="t" r="r" b="b"/>
            <a:pathLst>
              <a:path w="1461312" h="1461312">
                <a:moveTo>
                  <a:pt x="0" y="0"/>
                </a:moveTo>
                <a:lnTo>
                  <a:pt x="1461312" y="0"/>
                </a:lnTo>
                <a:lnTo>
                  <a:pt x="1461312" y="1461311"/>
                </a:lnTo>
                <a:lnTo>
                  <a:pt x="0" y="1461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/>
          <p:cNvSpPr/>
          <p:nvPr/>
        </p:nvSpPr>
        <p:spPr>
          <a:xfrm>
            <a:off x="7486748" y="2205310"/>
            <a:ext cx="10364206" cy="4242544"/>
          </a:xfrm>
          <a:custGeom>
            <a:avLst/>
            <a:gdLst/>
            <a:ahLst/>
            <a:cxnLst/>
            <a:rect l="l" t="t" r="r" b="b"/>
            <a:pathLst>
              <a:path w="10364206" h="4242544">
                <a:moveTo>
                  <a:pt x="0" y="0"/>
                </a:moveTo>
                <a:lnTo>
                  <a:pt x="10364206" y="0"/>
                </a:lnTo>
                <a:lnTo>
                  <a:pt x="10364206" y="4242544"/>
                </a:lnTo>
                <a:lnTo>
                  <a:pt x="0" y="42425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/>
          <p:cNvSpPr/>
          <p:nvPr/>
        </p:nvSpPr>
        <p:spPr>
          <a:xfrm>
            <a:off x="6549695" y="6744810"/>
            <a:ext cx="11301259" cy="3319745"/>
          </a:xfrm>
          <a:custGeom>
            <a:avLst/>
            <a:gdLst/>
            <a:ahLst/>
            <a:cxnLst/>
            <a:rect l="l" t="t" r="r" b="b"/>
            <a:pathLst>
              <a:path w="11301259" h="3319745">
                <a:moveTo>
                  <a:pt x="0" y="0"/>
                </a:moveTo>
                <a:lnTo>
                  <a:pt x="11301259" y="0"/>
                </a:lnTo>
                <a:lnTo>
                  <a:pt x="11301259" y="3319745"/>
                </a:lnTo>
                <a:lnTo>
                  <a:pt x="0" y="331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2" name="TextBox 12"/>
          <p:cNvSpPr txBox="1"/>
          <p:nvPr/>
        </p:nvSpPr>
        <p:spPr>
          <a:xfrm>
            <a:off x="294629" y="2838715"/>
            <a:ext cx="6679702" cy="876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3611">
                <a:solidFill>
                  <a:srgbClr val="B49567"/>
                </a:solidFill>
                <a:latin typeface="Antic Bold"/>
                <a:ea typeface="Antic Bold"/>
                <a:cs typeface="Antic Bold"/>
                <a:sym typeface="Antic Bold"/>
              </a:rPr>
              <a:t>Customer Activity Trends by Time of Day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4629" y="4730540"/>
            <a:ext cx="7012324" cy="246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Late mornings are our strongest trading period in terms of both sales volume and revenue, while late evenings show a significant drop, indicating lower customer activity later in the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82453" y="7439784"/>
            <a:ext cx="9170160" cy="917016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2001" y="-6417170"/>
            <a:ext cx="9170160" cy="917016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6307799" y="1250903"/>
            <a:ext cx="7192705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ZA"/>
          </a:p>
        </p:txBody>
      </p:sp>
      <p:sp>
        <p:nvSpPr>
          <p:cNvPr id="9" name="Freeform 9"/>
          <p:cNvSpPr/>
          <p:nvPr/>
        </p:nvSpPr>
        <p:spPr>
          <a:xfrm>
            <a:off x="15797988" y="7796988"/>
            <a:ext cx="1461312" cy="1461312"/>
          </a:xfrm>
          <a:custGeom>
            <a:avLst/>
            <a:gdLst/>
            <a:ahLst/>
            <a:cxnLst/>
            <a:rect l="l" t="t" r="r" b="b"/>
            <a:pathLst>
              <a:path w="1461312" h="1461312">
                <a:moveTo>
                  <a:pt x="0" y="0"/>
                </a:moveTo>
                <a:lnTo>
                  <a:pt x="1461312" y="0"/>
                </a:lnTo>
                <a:lnTo>
                  <a:pt x="1461312" y="1461312"/>
                </a:lnTo>
                <a:lnTo>
                  <a:pt x="0" y="1461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/>
          <p:cNvSpPr/>
          <p:nvPr/>
        </p:nvSpPr>
        <p:spPr>
          <a:xfrm>
            <a:off x="636747" y="3185361"/>
            <a:ext cx="4972526" cy="4734874"/>
          </a:xfrm>
          <a:custGeom>
            <a:avLst/>
            <a:gdLst/>
            <a:ahLst/>
            <a:cxnLst/>
            <a:rect l="l" t="t" r="r" b="b"/>
            <a:pathLst>
              <a:path w="4972526" h="4734874">
                <a:moveTo>
                  <a:pt x="0" y="0"/>
                </a:moveTo>
                <a:lnTo>
                  <a:pt x="4972526" y="0"/>
                </a:lnTo>
                <a:lnTo>
                  <a:pt x="4972526" y="4734875"/>
                </a:lnTo>
                <a:lnTo>
                  <a:pt x="0" y="4734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12" t="-3834" r="-1521" b="-5704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TextBox 11"/>
          <p:cNvSpPr txBox="1"/>
          <p:nvPr/>
        </p:nvSpPr>
        <p:spPr>
          <a:xfrm>
            <a:off x="6804516" y="3616266"/>
            <a:ext cx="7639666" cy="250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6"/>
              </a:lnSpc>
            </a:pPr>
            <a:r>
              <a:rPr lang="en-US" sz="2847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This seasonal trend indicates an opportunity to strategically promote warm berverages and bundles during colder months while introducing refreshing or lighter options during summer to balance performance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20497" y="1886194"/>
            <a:ext cx="8895566" cy="467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3741">
                <a:solidFill>
                  <a:srgbClr val="B49567"/>
                </a:solidFill>
                <a:latin typeface="Antic Bold"/>
                <a:ea typeface="Antic Bold"/>
                <a:cs typeface="Antic Bold"/>
                <a:sym typeface="Antic Bold"/>
              </a:rPr>
              <a:t>Revenue Performance vs Seasonal Ptterns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74945" y="4720845"/>
            <a:ext cx="9170160" cy="917016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667604" y="-1276475"/>
            <a:ext cx="9170160" cy="917016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919822" y="5119688"/>
            <a:ext cx="872490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9" name="AutoShape 9"/>
          <p:cNvSpPr/>
          <p:nvPr/>
        </p:nvSpPr>
        <p:spPr>
          <a:xfrm>
            <a:off x="919822" y="6536911"/>
            <a:ext cx="872490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grpSp>
        <p:nvGrpSpPr>
          <p:cNvPr id="10" name="Group 10"/>
          <p:cNvGrpSpPr/>
          <p:nvPr/>
        </p:nvGrpSpPr>
        <p:grpSpPr>
          <a:xfrm>
            <a:off x="10845030" y="971812"/>
            <a:ext cx="1388853" cy="138885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956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3502610" y="1655361"/>
            <a:ext cx="7342439" cy="47625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4" name="Freeform 14"/>
          <p:cNvSpPr/>
          <p:nvPr/>
        </p:nvSpPr>
        <p:spPr>
          <a:xfrm>
            <a:off x="1598504" y="983208"/>
            <a:ext cx="1461312" cy="1461312"/>
          </a:xfrm>
          <a:custGeom>
            <a:avLst/>
            <a:gdLst/>
            <a:ahLst/>
            <a:cxnLst/>
            <a:rect l="l" t="t" r="r" b="b"/>
            <a:pathLst>
              <a:path w="1461312" h="1461312">
                <a:moveTo>
                  <a:pt x="0" y="0"/>
                </a:moveTo>
                <a:lnTo>
                  <a:pt x="1461312" y="0"/>
                </a:lnTo>
                <a:lnTo>
                  <a:pt x="1461312" y="1461311"/>
                </a:lnTo>
                <a:lnTo>
                  <a:pt x="0" y="1461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/>
          <p:cNvSpPr/>
          <p:nvPr/>
        </p:nvSpPr>
        <p:spPr>
          <a:xfrm>
            <a:off x="12452958" y="971812"/>
            <a:ext cx="5417566" cy="3960623"/>
          </a:xfrm>
          <a:custGeom>
            <a:avLst/>
            <a:gdLst/>
            <a:ahLst/>
            <a:cxnLst/>
            <a:rect l="l" t="t" r="r" b="b"/>
            <a:pathLst>
              <a:path w="5417566" h="3960623">
                <a:moveTo>
                  <a:pt x="0" y="0"/>
                </a:moveTo>
                <a:lnTo>
                  <a:pt x="5417567" y="0"/>
                </a:lnTo>
                <a:lnTo>
                  <a:pt x="5417567" y="3960623"/>
                </a:lnTo>
                <a:lnTo>
                  <a:pt x="0" y="39606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/>
          <p:cNvSpPr/>
          <p:nvPr/>
        </p:nvSpPr>
        <p:spPr>
          <a:xfrm>
            <a:off x="12452958" y="5311810"/>
            <a:ext cx="4806342" cy="4363579"/>
          </a:xfrm>
          <a:custGeom>
            <a:avLst/>
            <a:gdLst/>
            <a:ahLst/>
            <a:cxnLst/>
            <a:rect l="l" t="t" r="r" b="b"/>
            <a:pathLst>
              <a:path w="4806342" h="4363579">
                <a:moveTo>
                  <a:pt x="0" y="0"/>
                </a:moveTo>
                <a:lnTo>
                  <a:pt x="4806342" y="0"/>
                </a:lnTo>
                <a:lnTo>
                  <a:pt x="4806342" y="4363579"/>
                </a:lnTo>
                <a:lnTo>
                  <a:pt x="0" y="4363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1000"/>
            </a:blip>
            <a:stretch>
              <a:fillRect t="-4870" b="-4870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TextBox 17"/>
          <p:cNvSpPr txBox="1"/>
          <p:nvPr/>
        </p:nvSpPr>
        <p:spPr>
          <a:xfrm>
            <a:off x="1852384" y="4757959"/>
            <a:ext cx="8775421" cy="3453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All three stores have similar sales volumes, Astoria generates higher revenue, indicating higer-value pircing.</a:t>
            </a:r>
          </a:p>
          <a:p>
            <a:pPr algn="l">
              <a:lnSpc>
                <a:spcPts val="3920"/>
              </a:lnSpc>
            </a:pPr>
            <a:endParaRPr lang="en-US" sz="2800">
              <a:solidFill>
                <a:srgbClr val="FFFFFF"/>
              </a:solidFill>
              <a:latin typeface="Antic"/>
              <a:ea typeface="Antic"/>
              <a:cs typeface="Antic"/>
              <a:sym typeface="Antic"/>
            </a:endParaRP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Hell’s Kitchen and Lower Manhattan sell slightly more units than Astoria but generate less revenue. This suggests an oppotunity to improve pricing strategies, upselling or product mix in these locations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92312" y="2642600"/>
            <a:ext cx="8895566" cy="467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3741">
                <a:solidFill>
                  <a:srgbClr val="B49567"/>
                </a:solidFill>
                <a:latin typeface="Antic Bold"/>
                <a:ea typeface="Antic Bold"/>
                <a:cs typeface="Antic Bold"/>
                <a:sym typeface="Antic Bold"/>
              </a:rPr>
              <a:t>Revenue &amp; Sales Performance by 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74945" y="4720845"/>
            <a:ext cx="9170160" cy="917016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667604" y="-1276475"/>
            <a:ext cx="9170160" cy="917016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2511469" y="1250903"/>
            <a:ext cx="10989035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ZA"/>
          </a:p>
        </p:txBody>
      </p:sp>
      <p:sp>
        <p:nvSpPr>
          <p:cNvPr id="9" name="Freeform 9"/>
          <p:cNvSpPr/>
          <p:nvPr/>
        </p:nvSpPr>
        <p:spPr>
          <a:xfrm>
            <a:off x="4819400" y="2941173"/>
            <a:ext cx="1461312" cy="1461312"/>
          </a:xfrm>
          <a:custGeom>
            <a:avLst/>
            <a:gdLst/>
            <a:ahLst/>
            <a:cxnLst/>
            <a:rect l="l" t="t" r="r" b="b"/>
            <a:pathLst>
              <a:path w="1461312" h="1461312">
                <a:moveTo>
                  <a:pt x="0" y="0"/>
                </a:moveTo>
                <a:lnTo>
                  <a:pt x="1461312" y="0"/>
                </a:lnTo>
                <a:lnTo>
                  <a:pt x="1461312" y="1461312"/>
                </a:lnTo>
                <a:lnTo>
                  <a:pt x="0" y="1461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/>
          <p:cNvSpPr/>
          <p:nvPr/>
        </p:nvSpPr>
        <p:spPr>
          <a:xfrm>
            <a:off x="166409" y="4402485"/>
            <a:ext cx="7325928" cy="3236494"/>
          </a:xfrm>
          <a:custGeom>
            <a:avLst/>
            <a:gdLst/>
            <a:ahLst/>
            <a:cxnLst/>
            <a:rect l="l" t="t" r="r" b="b"/>
            <a:pathLst>
              <a:path w="7325928" h="3236494">
                <a:moveTo>
                  <a:pt x="0" y="0"/>
                </a:moveTo>
                <a:lnTo>
                  <a:pt x="7325928" y="0"/>
                </a:lnTo>
                <a:lnTo>
                  <a:pt x="7325928" y="3236494"/>
                </a:lnTo>
                <a:lnTo>
                  <a:pt x="0" y="323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TextBox 11"/>
          <p:cNvSpPr txBox="1"/>
          <p:nvPr/>
        </p:nvSpPr>
        <p:spPr>
          <a:xfrm>
            <a:off x="9472530" y="5805170"/>
            <a:ext cx="7428355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This shows the importance of balancing high-volume products like coffee with high-value items like coffee beans to mazimize overall revenue.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5348" y="3036423"/>
            <a:ext cx="8895566" cy="90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3741">
                <a:solidFill>
                  <a:srgbClr val="B49567"/>
                </a:solidFill>
                <a:latin typeface="Antic Bold"/>
                <a:ea typeface="Antic Bold"/>
                <a:cs typeface="Antic Bold"/>
                <a:sym typeface="Antic Bold"/>
              </a:rPr>
              <a:t>What Customers Buy Most vs What Generates the Most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667533" y="3489309"/>
            <a:ext cx="9170160" cy="917016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59699" y="-2985961"/>
            <a:ext cx="9170160" cy="917016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270435" y="1907075"/>
            <a:ext cx="5703963" cy="7088761"/>
            <a:chOff x="0" y="0"/>
            <a:chExt cx="5108702" cy="63489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08702" cy="6348857"/>
            </a:xfrm>
            <a:custGeom>
              <a:avLst/>
              <a:gdLst/>
              <a:ahLst/>
              <a:cxnLst/>
              <a:rect l="l" t="t" r="r" b="b"/>
              <a:pathLst>
                <a:path w="5108702" h="6348857">
                  <a:moveTo>
                    <a:pt x="5108702" y="2554351"/>
                  </a:moveTo>
                  <a:lnTo>
                    <a:pt x="5108702" y="3794506"/>
                  </a:lnTo>
                  <a:cubicBezTo>
                    <a:pt x="5108702" y="5205222"/>
                    <a:pt x="3965067" y="6348857"/>
                    <a:pt x="2554351" y="6348857"/>
                  </a:cubicBezTo>
                  <a:cubicBezTo>
                    <a:pt x="1143635" y="6348984"/>
                    <a:pt x="0" y="5205349"/>
                    <a:pt x="0" y="3794506"/>
                  </a:cubicBezTo>
                  <a:lnTo>
                    <a:pt x="0" y="2554351"/>
                  </a:lnTo>
                  <a:cubicBezTo>
                    <a:pt x="0" y="1143635"/>
                    <a:pt x="1143635" y="0"/>
                    <a:pt x="2554351" y="0"/>
                  </a:cubicBezTo>
                  <a:cubicBezTo>
                    <a:pt x="3965067" y="0"/>
                    <a:pt x="5108702" y="1143635"/>
                    <a:pt x="5108702" y="2554351"/>
                  </a:cubicBezTo>
                  <a:close/>
                </a:path>
              </a:pathLst>
            </a:custGeom>
            <a:blipFill>
              <a:blip r:embed="rId2"/>
              <a:stretch>
                <a:fillRect t="-291" b="-291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513086" y="7534525"/>
            <a:ext cx="1461312" cy="1461312"/>
          </a:xfrm>
          <a:custGeom>
            <a:avLst/>
            <a:gdLst/>
            <a:ahLst/>
            <a:cxnLst/>
            <a:rect l="l" t="t" r="r" b="b"/>
            <a:pathLst>
              <a:path w="1461312" h="1461312">
                <a:moveTo>
                  <a:pt x="0" y="0"/>
                </a:moveTo>
                <a:lnTo>
                  <a:pt x="1461312" y="0"/>
                </a:lnTo>
                <a:lnTo>
                  <a:pt x="1461312" y="1461312"/>
                </a:lnTo>
                <a:lnTo>
                  <a:pt x="0" y="1461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AutoShape 11"/>
          <p:cNvSpPr/>
          <p:nvPr/>
        </p:nvSpPr>
        <p:spPr>
          <a:xfrm>
            <a:off x="1313602" y="6790910"/>
            <a:ext cx="872490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2" name="AutoShape 12"/>
          <p:cNvSpPr/>
          <p:nvPr/>
        </p:nvSpPr>
        <p:spPr>
          <a:xfrm>
            <a:off x="1313602" y="7267160"/>
            <a:ext cx="872490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3" name="AutoShape 13"/>
          <p:cNvSpPr/>
          <p:nvPr/>
        </p:nvSpPr>
        <p:spPr>
          <a:xfrm>
            <a:off x="1313602" y="7785652"/>
            <a:ext cx="872490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4" name="AutoShape 14"/>
          <p:cNvSpPr/>
          <p:nvPr/>
        </p:nvSpPr>
        <p:spPr>
          <a:xfrm>
            <a:off x="1313602" y="8283413"/>
            <a:ext cx="872490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Box 15"/>
          <p:cNvSpPr txBox="1"/>
          <p:nvPr/>
        </p:nvSpPr>
        <p:spPr>
          <a:xfrm>
            <a:off x="2471406" y="6533307"/>
            <a:ext cx="8374118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Happy Hour discounts (buy 1 get 1 free after 18:00)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Combo deals (Coffee + bakery at a reduced price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Loyalty rewards (double points during slow hours)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Student or after work specials</a:t>
            </a:r>
          </a:p>
        </p:txBody>
      </p:sp>
      <p:sp>
        <p:nvSpPr>
          <p:cNvPr id="16" name="AutoShape 16"/>
          <p:cNvSpPr/>
          <p:nvPr/>
        </p:nvSpPr>
        <p:spPr>
          <a:xfrm>
            <a:off x="3217724" y="1974194"/>
            <a:ext cx="8664051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7" name="Freeform 17"/>
          <p:cNvSpPr/>
          <p:nvPr/>
        </p:nvSpPr>
        <p:spPr>
          <a:xfrm>
            <a:off x="1313602" y="1291163"/>
            <a:ext cx="1461312" cy="1461312"/>
          </a:xfrm>
          <a:custGeom>
            <a:avLst/>
            <a:gdLst/>
            <a:ahLst/>
            <a:cxnLst/>
            <a:rect l="l" t="t" r="r" b="b"/>
            <a:pathLst>
              <a:path w="1461312" h="1461312">
                <a:moveTo>
                  <a:pt x="0" y="0"/>
                </a:moveTo>
                <a:lnTo>
                  <a:pt x="1461312" y="0"/>
                </a:lnTo>
                <a:lnTo>
                  <a:pt x="1461312" y="1461312"/>
                </a:lnTo>
                <a:lnTo>
                  <a:pt x="0" y="1461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TextBox 18"/>
          <p:cNvSpPr txBox="1"/>
          <p:nvPr/>
        </p:nvSpPr>
        <p:spPr>
          <a:xfrm>
            <a:off x="355141" y="2847725"/>
            <a:ext cx="8895566" cy="90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3741">
                <a:solidFill>
                  <a:srgbClr val="B49567"/>
                </a:solidFill>
                <a:latin typeface="Antic Bold"/>
                <a:ea typeface="Antic Bold"/>
                <a:cs typeface="Antic Bold"/>
                <a:sym typeface="Antic Bold"/>
              </a:rPr>
              <a:t>Marketing Campaigns for Slow Time Slots (Late Evening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866154" y="5882824"/>
            <a:ext cx="872490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3" name="AutoShape 3"/>
          <p:cNvSpPr/>
          <p:nvPr/>
        </p:nvSpPr>
        <p:spPr>
          <a:xfrm>
            <a:off x="7866154" y="6930972"/>
            <a:ext cx="872490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grpSp>
        <p:nvGrpSpPr>
          <p:cNvPr id="4" name="Group 4"/>
          <p:cNvGrpSpPr/>
          <p:nvPr/>
        </p:nvGrpSpPr>
        <p:grpSpPr>
          <a:xfrm>
            <a:off x="11965365" y="-5817465"/>
            <a:ext cx="9170160" cy="917016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07136" y="5625221"/>
            <a:ext cx="7157440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Increase stock avsilability diring peak times (morning and late mornings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Avoid stockouts of high-demand items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Prioritize fast-moving products in inventory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2944369" y="7466899"/>
            <a:ext cx="9170160" cy="917016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37499" y="-1232385"/>
            <a:ext cx="7297445" cy="9815436"/>
            <a:chOff x="0" y="0"/>
            <a:chExt cx="9729927" cy="13087248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2"/>
            <a:srcRect l="31158" r="19261"/>
            <a:stretch>
              <a:fillRect/>
            </a:stretch>
          </p:blipFill>
          <p:spPr>
            <a:xfrm>
              <a:off x="0" y="0"/>
              <a:ext cx="9729927" cy="13087248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965519" y="580289"/>
            <a:ext cx="1388853" cy="138885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956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>
            <a:off x="7354372" y="1250903"/>
            <a:ext cx="6146132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ZA"/>
          </a:p>
        </p:txBody>
      </p:sp>
      <p:sp>
        <p:nvSpPr>
          <p:cNvPr id="17" name="Freeform 17"/>
          <p:cNvSpPr/>
          <p:nvPr/>
        </p:nvSpPr>
        <p:spPr>
          <a:xfrm>
            <a:off x="2280568" y="7852395"/>
            <a:ext cx="1461312" cy="1461312"/>
          </a:xfrm>
          <a:custGeom>
            <a:avLst/>
            <a:gdLst/>
            <a:ahLst/>
            <a:cxnLst/>
            <a:rect l="l" t="t" r="r" b="b"/>
            <a:pathLst>
              <a:path w="1461312" h="1461312">
                <a:moveTo>
                  <a:pt x="0" y="0"/>
                </a:moveTo>
                <a:lnTo>
                  <a:pt x="1461311" y="0"/>
                </a:lnTo>
                <a:lnTo>
                  <a:pt x="1461311" y="1461312"/>
                </a:lnTo>
                <a:lnTo>
                  <a:pt x="0" y="1461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TextBox 18"/>
          <p:cNvSpPr txBox="1"/>
          <p:nvPr/>
        </p:nvSpPr>
        <p:spPr>
          <a:xfrm>
            <a:off x="7354372" y="2261739"/>
            <a:ext cx="8895566" cy="467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3741">
                <a:solidFill>
                  <a:srgbClr val="B49567"/>
                </a:solidFill>
                <a:latin typeface="Antic Bold"/>
                <a:ea typeface="Antic Bold"/>
                <a:cs typeface="Antic Bold"/>
                <a:sym typeface="Antic Bold"/>
              </a:rPr>
              <a:t>Stock More of Best-Selling Items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866154" y="7443087"/>
            <a:ext cx="872490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99107" y="-3332584"/>
            <a:ext cx="9170160" cy="917016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624944" y="7804552"/>
            <a:ext cx="9170160" cy="917016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624944" y="-976577"/>
            <a:ext cx="5647289" cy="9983819"/>
            <a:chOff x="0" y="0"/>
            <a:chExt cx="7529719" cy="13311759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r="24580"/>
            <a:stretch>
              <a:fillRect/>
            </a:stretch>
          </p:blipFill>
          <p:spPr>
            <a:xfrm>
              <a:off x="0" y="0"/>
              <a:ext cx="7529719" cy="13311759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3605759" y="-235691"/>
            <a:ext cx="5007433" cy="9242933"/>
            <a:chOff x="0" y="0"/>
            <a:chExt cx="6676577" cy="12323911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/>
            <a:srcRect l="9368" r="9368"/>
            <a:stretch>
              <a:fillRect/>
            </a:stretch>
          </p:blipFill>
          <p:spPr>
            <a:xfrm>
              <a:off x="0" y="0"/>
              <a:ext cx="6676577" cy="12323911"/>
            </a:xfrm>
            <a:prstGeom prst="rect">
              <a:avLst/>
            </a:prstGeom>
          </p:spPr>
        </p:pic>
      </p:grpSp>
      <p:sp>
        <p:nvSpPr>
          <p:cNvPr id="12" name="AutoShape 12"/>
          <p:cNvSpPr/>
          <p:nvPr/>
        </p:nvSpPr>
        <p:spPr>
          <a:xfrm>
            <a:off x="9396277" y="6802315"/>
            <a:ext cx="872490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3" name="AutoShape 13"/>
          <p:cNvSpPr/>
          <p:nvPr/>
        </p:nvSpPr>
        <p:spPr>
          <a:xfrm>
            <a:off x="9396277" y="7804552"/>
            <a:ext cx="872490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4" name="AutoShape 14"/>
          <p:cNvSpPr/>
          <p:nvPr/>
        </p:nvSpPr>
        <p:spPr>
          <a:xfrm>
            <a:off x="9396277" y="7291915"/>
            <a:ext cx="872490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5" name="AutoShape 15"/>
          <p:cNvSpPr/>
          <p:nvPr/>
        </p:nvSpPr>
        <p:spPr>
          <a:xfrm>
            <a:off x="9396277" y="8294152"/>
            <a:ext cx="872490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Box 16"/>
          <p:cNvSpPr txBox="1"/>
          <p:nvPr/>
        </p:nvSpPr>
        <p:spPr>
          <a:xfrm>
            <a:off x="10437259" y="6544712"/>
            <a:ext cx="7157440" cy="246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Use upselling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Improve  in-store visibility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Bundle with popular items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Offer limited discounts</a:t>
            </a:r>
          </a:p>
          <a:p>
            <a:pPr algn="l">
              <a:lnSpc>
                <a:spcPts val="3920"/>
              </a:lnSpc>
            </a:pPr>
            <a:endParaRPr lang="en-US" sz="2800">
              <a:solidFill>
                <a:srgbClr val="FFFFFF"/>
              </a:solidFill>
              <a:latin typeface="Antic"/>
              <a:ea typeface="Antic"/>
              <a:cs typeface="Antic"/>
              <a:sym typeface="Anti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162133" y="1106972"/>
            <a:ext cx="7908257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ZA"/>
          </a:p>
        </p:txBody>
      </p:sp>
      <p:sp>
        <p:nvSpPr>
          <p:cNvPr id="18" name="Freeform 18"/>
          <p:cNvSpPr/>
          <p:nvPr/>
        </p:nvSpPr>
        <p:spPr>
          <a:xfrm>
            <a:off x="15513364" y="423941"/>
            <a:ext cx="1461312" cy="1461312"/>
          </a:xfrm>
          <a:custGeom>
            <a:avLst/>
            <a:gdLst/>
            <a:ahLst/>
            <a:cxnLst/>
            <a:rect l="l" t="t" r="r" b="b"/>
            <a:pathLst>
              <a:path w="1461312" h="1461312">
                <a:moveTo>
                  <a:pt x="0" y="0"/>
                </a:moveTo>
                <a:lnTo>
                  <a:pt x="1461312" y="0"/>
                </a:lnTo>
                <a:lnTo>
                  <a:pt x="1461312" y="1461312"/>
                </a:lnTo>
                <a:lnTo>
                  <a:pt x="0" y="1461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TextBox 19"/>
          <p:cNvSpPr txBox="1"/>
          <p:nvPr/>
        </p:nvSpPr>
        <p:spPr>
          <a:xfrm>
            <a:off x="9048721" y="2745839"/>
            <a:ext cx="8895566" cy="467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3741">
                <a:solidFill>
                  <a:srgbClr val="B49567"/>
                </a:solidFill>
                <a:latin typeface="Antic Bold"/>
                <a:ea typeface="Antic Bold"/>
                <a:cs typeface="Antic Bold"/>
                <a:sym typeface="Antic Bold"/>
              </a:rPr>
              <a:t>Promote Underperming Products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554813" y="-3659263"/>
            <a:ext cx="9170160" cy="917016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413936" y="4403392"/>
            <a:ext cx="9170160" cy="917016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303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12753" y="1298528"/>
            <a:ext cx="6187703" cy="7689944"/>
            <a:chOff x="0" y="0"/>
            <a:chExt cx="5108702" cy="63489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08702" cy="6348857"/>
            </a:xfrm>
            <a:custGeom>
              <a:avLst/>
              <a:gdLst/>
              <a:ahLst/>
              <a:cxnLst/>
              <a:rect l="l" t="t" r="r" b="b"/>
              <a:pathLst>
                <a:path w="5108702" h="6348857">
                  <a:moveTo>
                    <a:pt x="5108702" y="2554351"/>
                  </a:moveTo>
                  <a:lnTo>
                    <a:pt x="5108702" y="3794506"/>
                  </a:lnTo>
                  <a:cubicBezTo>
                    <a:pt x="5108702" y="5205222"/>
                    <a:pt x="3965067" y="6348857"/>
                    <a:pt x="2554351" y="6348857"/>
                  </a:cubicBezTo>
                  <a:cubicBezTo>
                    <a:pt x="1143635" y="6348984"/>
                    <a:pt x="0" y="5205349"/>
                    <a:pt x="0" y="3794506"/>
                  </a:cubicBezTo>
                  <a:lnTo>
                    <a:pt x="0" y="2554351"/>
                  </a:lnTo>
                  <a:cubicBezTo>
                    <a:pt x="0" y="1143635"/>
                    <a:pt x="1143635" y="0"/>
                    <a:pt x="2554351" y="0"/>
                  </a:cubicBezTo>
                  <a:cubicBezTo>
                    <a:pt x="3965067" y="0"/>
                    <a:pt x="5108702" y="1143635"/>
                    <a:pt x="5108702" y="2554351"/>
                  </a:cubicBezTo>
                  <a:close/>
                </a:path>
              </a:pathLst>
            </a:custGeom>
            <a:blipFill>
              <a:blip r:embed="rId2"/>
              <a:stretch>
                <a:fillRect t="-10274" b="-10274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217131" y="3511079"/>
            <a:ext cx="8658116" cy="929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4"/>
              </a:lnSpc>
            </a:pPr>
            <a:r>
              <a:rPr lang="en-US" sz="7400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End of Presentation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17131" y="5334000"/>
            <a:ext cx="6430930" cy="93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7411">
                <a:solidFill>
                  <a:srgbClr val="B49567"/>
                </a:solidFill>
                <a:latin typeface="Antic Bold"/>
                <a:ea typeface="Antic Bold"/>
                <a:cs typeface="Antic Bold"/>
                <a:sym typeface="Antic Bold"/>
              </a:rPr>
              <a:t>Thank You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3743781" y="5703848"/>
            <a:ext cx="2315077" cy="0"/>
          </a:xfrm>
          <a:prstGeom prst="line">
            <a:avLst/>
          </a:prstGeom>
          <a:ln w="47625" cap="flat">
            <a:solidFill>
              <a:srgbClr val="B495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grpSp>
        <p:nvGrpSpPr>
          <p:cNvPr id="13" name="Group 13"/>
          <p:cNvGrpSpPr/>
          <p:nvPr/>
        </p:nvGrpSpPr>
        <p:grpSpPr>
          <a:xfrm>
            <a:off x="7684864" y="6683295"/>
            <a:ext cx="1459136" cy="145913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9567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217131" y="6626145"/>
            <a:ext cx="4613417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Thandeka Ngetu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Bright Coffee Shops</a:t>
            </a:r>
          </a:p>
          <a:p>
            <a:pPr algn="l">
              <a:lnSpc>
                <a:spcPts val="3920"/>
              </a:lnSpc>
            </a:pPr>
            <a:endParaRPr lang="en-US" sz="2800">
              <a:solidFill>
                <a:srgbClr val="FFFFFF"/>
              </a:solidFill>
              <a:latin typeface="Antic"/>
              <a:ea typeface="Antic"/>
              <a:cs typeface="Antic"/>
              <a:sym typeface="Antic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830548" y="6626145"/>
            <a:ext cx="4613417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079 5807538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ngetu.thandeka09@gmail.com</a:t>
            </a:r>
          </a:p>
          <a:p>
            <a:pPr algn="l">
              <a:lnSpc>
                <a:spcPts val="3920"/>
              </a:lnSpc>
            </a:pPr>
            <a:endParaRPr lang="en-US" sz="2800">
              <a:solidFill>
                <a:srgbClr val="FFFFFF"/>
              </a:solidFill>
              <a:latin typeface="Antic"/>
              <a:ea typeface="Antic"/>
              <a:cs typeface="Antic"/>
              <a:sym typeface="Anti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062704" y="1608848"/>
            <a:ext cx="7908257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ZA"/>
          </a:p>
        </p:txBody>
      </p:sp>
      <p:sp>
        <p:nvSpPr>
          <p:cNvPr id="19" name="Freeform 19"/>
          <p:cNvSpPr/>
          <p:nvPr/>
        </p:nvSpPr>
        <p:spPr>
          <a:xfrm>
            <a:off x="15413936" y="925817"/>
            <a:ext cx="1461312" cy="1461312"/>
          </a:xfrm>
          <a:custGeom>
            <a:avLst/>
            <a:gdLst/>
            <a:ahLst/>
            <a:cxnLst/>
            <a:rect l="l" t="t" r="r" b="b"/>
            <a:pathLst>
              <a:path w="1461312" h="1461312">
                <a:moveTo>
                  <a:pt x="0" y="0"/>
                </a:moveTo>
                <a:lnTo>
                  <a:pt x="1461311" y="0"/>
                </a:lnTo>
                <a:lnTo>
                  <a:pt x="1461311" y="1461312"/>
                </a:lnTo>
                <a:lnTo>
                  <a:pt x="0" y="1461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/>
          <p:cNvSpPr/>
          <p:nvPr/>
        </p:nvSpPr>
        <p:spPr>
          <a:xfrm>
            <a:off x="1412753" y="7412863"/>
            <a:ext cx="1461312" cy="1461312"/>
          </a:xfrm>
          <a:custGeom>
            <a:avLst/>
            <a:gdLst/>
            <a:ahLst/>
            <a:cxnLst/>
            <a:rect l="l" t="t" r="r" b="b"/>
            <a:pathLst>
              <a:path w="1461312" h="1461312">
                <a:moveTo>
                  <a:pt x="0" y="0"/>
                </a:moveTo>
                <a:lnTo>
                  <a:pt x="1461311" y="0"/>
                </a:lnTo>
                <a:lnTo>
                  <a:pt x="1461311" y="1461312"/>
                </a:lnTo>
                <a:lnTo>
                  <a:pt x="0" y="1461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Microsoft Office PowerPoint</Application>
  <PresentationFormat>Custom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Antic Bold</vt:lpstr>
      <vt:lpstr>Arial</vt:lpstr>
      <vt:lpstr>Calibri</vt:lpstr>
      <vt:lpstr>Antic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28.03.2026</dc:title>
  <dc:creator>Thandeka Ngetu</dc:creator>
  <cp:lastModifiedBy>Thandeka Ngetu</cp:lastModifiedBy>
  <cp:revision>2</cp:revision>
  <dcterms:created xsi:type="dcterms:W3CDTF">2006-08-16T00:00:00Z</dcterms:created>
  <dcterms:modified xsi:type="dcterms:W3CDTF">2026-03-30T19:19:27Z</dcterms:modified>
  <dc:identifier>DAHFOTKalIE</dc:identifier>
</cp:coreProperties>
</file>